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596af55cd94070" /><Relationship Type="http://schemas.openxmlformats.org/officeDocument/2006/relationships/extended-properties" Target="/docProps/app.xml" Id="R93156c4448844412" /><Relationship Type="http://schemas.openxmlformats.org/officeDocument/2006/relationships/officeDocument" Target="/ppt/presentation.xml" Id="Rb5e25612176946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5bbbb2edd34bbc"/>
  </p:sldMasterIdLst>
  <p:notesMasterIdLst>
    <p:notesMasterId xmlns:r="http://schemas.openxmlformats.org/officeDocument/2006/relationships" r:id="Rbdb2eea3b58344e4"/>
  </p:notesMasterIdLst>
  <p:sldIdLst>
    <p:sldId xmlns:r="http://schemas.openxmlformats.org/officeDocument/2006/relationships" id="256" r:id="R7c92be9e031244e0"/>
    <p:sldId xmlns:r="http://schemas.openxmlformats.org/officeDocument/2006/relationships" id="257" r:id="Rb7ecc53d4f9346c7"/>
    <p:sldId xmlns:r="http://schemas.openxmlformats.org/officeDocument/2006/relationships" id="258" r:id="R445f0afa7e844dd4"/>
    <p:sldId xmlns:r="http://schemas.openxmlformats.org/officeDocument/2006/relationships" id="259" r:id="R74f50be70a71480e"/>
    <p:sldId xmlns:r="http://schemas.openxmlformats.org/officeDocument/2006/relationships" id="260" r:id="Ra44d0ed126bd4a18"/>
    <p:sldId xmlns:r="http://schemas.openxmlformats.org/officeDocument/2006/relationships" id="261" r:id="R05b741e521ce4396"/>
    <p:sldId xmlns:r="http://schemas.openxmlformats.org/officeDocument/2006/relationships" id="262" r:id="R5ffd3397b49a4129"/>
    <p:sldId xmlns:r="http://schemas.openxmlformats.org/officeDocument/2006/relationships" id="263" r:id="Rb2cfbda153694323"/>
    <p:sldId xmlns:r="http://schemas.openxmlformats.org/officeDocument/2006/relationships" id="264" r:id="Rfa1139a98a214501"/>
    <p:sldId xmlns:r="http://schemas.openxmlformats.org/officeDocument/2006/relationships" id="265" r:id="R76b504588d7744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b2f5bbe404954" /><Relationship Type="http://schemas.openxmlformats.org/officeDocument/2006/relationships/slideMaster" Target="/ppt/slideMasters/slideMaster1.xml" Id="R6c5bbbb2edd34bbc" /><Relationship Type="http://schemas.openxmlformats.org/officeDocument/2006/relationships/notesMaster" Target="/ppt/notesMasters/notesMaster1.xml" Id="Rbdb2eea3b58344e4" /><Relationship Type="http://schemas.openxmlformats.org/officeDocument/2006/relationships/presProps" Target="/ppt/presProps.xml" Id="R4b3b61c3869e4c40" /><Relationship Type="http://schemas.openxmlformats.org/officeDocument/2006/relationships/tableStyles" Target="/ppt/tableStyles.xml" Id="R29f81cf5185b402c" /><Relationship Type="http://schemas.openxmlformats.org/officeDocument/2006/relationships/slide" Target="/ppt/slides/slide1.xml" Id="R7c92be9e031244e0" /><Relationship Type="http://schemas.openxmlformats.org/officeDocument/2006/relationships/slide" Target="/ppt/slides/slide2.xml" Id="Rb7ecc53d4f9346c7" /><Relationship Type="http://schemas.openxmlformats.org/officeDocument/2006/relationships/slide" Target="/ppt/slides/slide3.xml" Id="R445f0afa7e844dd4" /><Relationship Type="http://schemas.openxmlformats.org/officeDocument/2006/relationships/slide" Target="/ppt/slides/slide4.xml" Id="R74f50be70a71480e" /><Relationship Type="http://schemas.openxmlformats.org/officeDocument/2006/relationships/slide" Target="/ppt/slides/slide5.xml" Id="Ra44d0ed126bd4a18" /><Relationship Type="http://schemas.openxmlformats.org/officeDocument/2006/relationships/slide" Target="/ppt/slides/slide6.xml" Id="R05b741e521ce4396" /><Relationship Type="http://schemas.openxmlformats.org/officeDocument/2006/relationships/slide" Target="/ppt/slides/slide7.xml" Id="R5ffd3397b49a4129" /><Relationship Type="http://schemas.openxmlformats.org/officeDocument/2006/relationships/slide" Target="/ppt/slides/slide8.xml" Id="Rb2cfbda153694323" /><Relationship Type="http://schemas.openxmlformats.org/officeDocument/2006/relationships/slide" Target="/ppt/slides/slide9.xml" Id="Rfa1139a98a214501" /><Relationship Type="http://schemas.openxmlformats.org/officeDocument/2006/relationships/slide" Target="/ppt/slides/slide10.xml" Id="R76b504588d7744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dcb65cbbed41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39502de32a4fed" /><Relationship Type="http://schemas.openxmlformats.org/officeDocument/2006/relationships/notesMaster" Target="/ppt/notesMasters/notesMaster1.xml" Id="R8c88f82cc0a749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eb907b6c0a422d" /><Relationship Type="http://schemas.openxmlformats.org/officeDocument/2006/relationships/notesMaster" Target="/ppt/notesMasters/notesMaster1.xml" Id="R5c00a39c7db441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70d3abffdf4a7f" /><Relationship Type="http://schemas.openxmlformats.org/officeDocument/2006/relationships/notesMaster" Target="/ppt/notesMasters/notesMaster1.xml" Id="R019b69494cf04a2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f4d91115854b6d" /><Relationship Type="http://schemas.openxmlformats.org/officeDocument/2006/relationships/notesMaster" Target="/ppt/notesMasters/notesMaster1.xml" Id="R125517d88aea4a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b23fae3f18417d" /><Relationship Type="http://schemas.openxmlformats.org/officeDocument/2006/relationships/notesMaster" Target="/ppt/notesMasters/notesMaster1.xml" Id="R90e24a28e27f45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c5e634835948ac" /><Relationship Type="http://schemas.openxmlformats.org/officeDocument/2006/relationships/notesMaster" Target="/ppt/notesMasters/notesMaster1.xml" Id="Ra509958e1f5149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aac3b13154481c" /><Relationship Type="http://schemas.openxmlformats.org/officeDocument/2006/relationships/notesMaster" Target="/ppt/notesMasters/notesMaster1.xml" Id="Ra3fd9c567db949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8611da07144765" /><Relationship Type="http://schemas.openxmlformats.org/officeDocument/2006/relationships/notesMaster" Target="/ppt/notesMasters/notesMaster1.xml" Id="R1d009638fcb244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a750a2bf854727" /><Relationship Type="http://schemas.openxmlformats.org/officeDocument/2006/relationships/notesMaster" Target="/ppt/notesMasters/notesMaster1.xml" Id="Rabf0998a3aee4e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1ebca6fcb104b8e" /><Relationship Type="http://schemas.openxmlformats.org/officeDocument/2006/relationships/notesMaster" Target="/ppt/notesMasters/notesMaster1.xml" Id="R48889808f30145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6112c4c75447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17d13a538b4a49" /><Relationship Type="http://schemas.openxmlformats.org/officeDocument/2006/relationships/slideLayout" Target="/ppt/slideLayouts/slideLayout1.xml" Id="R1bce365c2bc54d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ce365c2bc54d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fd765c9994d1a" /><Relationship Type="http://schemas.openxmlformats.org/officeDocument/2006/relationships/notesSlide" Target="/ppt/notesSlides/notesSlide1.xml" Id="R04a63fec41f04c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765196eee4e0a" /><Relationship Type="http://schemas.openxmlformats.org/officeDocument/2006/relationships/notesSlide" Target="/ppt/notesSlides/notesSlide2.xml" Id="Rcca03ab27adf4a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a9c690d584f55" /><Relationship Type="http://schemas.openxmlformats.org/officeDocument/2006/relationships/notesSlide" Target="/ppt/notesSlides/notesSlide3.xml" Id="R01a03c59959544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f83a3b398148cb" /><Relationship Type="http://schemas.openxmlformats.org/officeDocument/2006/relationships/notesSlide" Target="/ppt/notesSlides/notesSlide4.xml" Id="Re2709a31e24141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a068171c54248" /><Relationship Type="http://schemas.openxmlformats.org/officeDocument/2006/relationships/notesSlide" Target="/ppt/notesSlides/notesSlide5.xml" Id="Rb88df0fd75f140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9e8d6080945cc" /><Relationship Type="http://schemas.openxmlformats.org/officeDocument/2006/relationships/notesSlide" Target="/ppt/notesSlides/notesSlide6.xml" Id="R1f090306c9144d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fc6b62edb4c9f" /><Relationship Type="http://schemas.openxmlformats.org/officeDocument/2006/relationships/notesSlide" Target="/ppt/notesSlides/notesSlide7.xml" Id="Rfc5bf0f6201548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c18977eee4260" /><Relationship Type="http://schemas.openxmlformats.org/officeDocument/2006/relationships/notesSlide" Target="/ppt/notesSlides/notesSlide8.xml" Id="Rc58cc567f98542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cc298291c41d3" /><Relationship Type="http://schemas.openxmlformats.org/officeDocument/2006/relationships/notesSlide" Target="/ppt/notesSlides/notesSlide9.xml" Id="Rf0db433ea44a4e4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f1261cb7741e0" /><Relationship Type="http://schemas.openxmlformats.org/officeDocument/2006/relationships/notesSlide" Target="/ppt/notesSlides/notesSlide10.xml" Id="R2a3b324a815c41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C0A9B-5813-4C79-9AC5-50CE518D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666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ENVIRONMENT FOUNDRY V2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CE9DF-0F25-4D99-9050-72587587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1047750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‘진짜 회사를 운영하는 AI’는
아직 하나의 점수가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2D5C7-EEDB-4A41-BC8C-8A195EB1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00600"/>
            <a:ext cx="100012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실제 benchmark artifact 3종 · 9개 episode decode · Qwen 0.5B 실행 결과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E0A5D-20FE-44F9-9467-7FE2FAD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029325"/>
            <a:ext cx="6667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Evidence-backed research · 2026-07-23</a:t>
            </a:r>
          </a:p>
        </p:txBody>
      </p:sp>
    </p:spTree>
    <p:extLst>
      <p:ext uri="{BB962C8B-B14F-4D97-AF65-F5344CB8AC3E}">
        <p14:creationId xmlns:p14="http://schemas.microsoft.com/office/powerpoint/2010/main" val="17242558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2">
            <a:extLst xmlns:a="http://schemas.openxmlformats.org/drawingml/2006/main">
              <a:ext uri="{FF2B5EF4-FFF2-40B4-BE49-F238E27FC236}">
                <a16:creationId xmlns:a16="http://schemas.microsoft.com/office/drawing/2014/main" id="{79BC415F-F5E7-4F66-8A60-8C3C225B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하나의 점수 대신, 누적 capability ladder가 필요하다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51278D-AD81-481B-8F79-277E6D53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D7538-1C38-457A-9608-8FC55267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Environment Foundry V2 operational definitions</a:t>
            </a:r>
          </a:p>
        </p:txBody>
      </p:sp>
      <p:sp>
        <p:nvSpPr>
          <p:cNvPr id="4" name="level-1">
            <a:extLst xmlns:a="http://schemas.openxmlformats.org/drawingml/2006/main">
              <a:ext uri="{FF2B5EF4-FFF2-40B4-BE49-F238E27FC236}">
                <a16:creationId xmlns:a16="http://schemas.microsoft.com/office/drawing/2014/main" id="{D347310F-5DEA-44DB-B145-FC689AFE4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2047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2F001-76BF-41B5-8828-EA4735B4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9550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F96E0-F860-4C24-885A-EAAD18EA6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048000"/>
            <a:ext cx="1666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Tool 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1F80AF-3F3F-440B-AD14-5F8F0615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4335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arguments · auth</a:t>
            </a:r>
          </a:p>
        </p:txBody>
      </p:sp>
      <p:sp>
        <p:nvSpPr>
          <p:cNvPr id="8" name="level-2">
            <a:extLst xmlns:a="http://schemas.openxmlformats.org/drawingml/2006/main">
              <a:ext uri="{FF2B5EF4-FFF2-40B4-BE49-F238E27FC236}">
                <a16:creationId xmlns:a16="http://schemas.microsoft.com/office/drawing/2014/main" id="{0BC1A731-85ED-444C-A944-9046279F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809750"/>
            <a:ext cx="2047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57C78-7B2E-49FF-8256-29086345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50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53FDA-D104-4B38-BE3F-ECF30D9D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1666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Bounded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2CC62-837F-41FD-85A6-9BA636C0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4335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multi-step · final state</a:t>
            </a:r>
          </a:p>
        </p:txBody>
      </p:sp>
      <p:sp>
        <p:nvSpPr>
          <p:cNvPr id="12" name="level-3">
            <a:extLst xmlns:a="http://schemas.openxmlformats.org/drawingml/2006/main">
              <a:ext uri="{FF2B5EF4-FFF2-40B4-BE49-F238E27FC236}">
                <a16:creationId xmlns:a16="http://schemas.microsoft.com/office/drawing/2014/main" id="{D588FFDA-33E5-4A75-9D60-EC5923BE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1809750"/>
            <a:ext cx="2047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E9327C-70E5-490C-8869-A505399C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09550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25CE06-B486-4727-AEE5-2FE8C9DE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048000"/>
            <a:ext cx="1666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Cross-
functional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65CFC-5640-423A-9F9D-DFD6B569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94335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multi-app · coordination</a:t>
            </a:r>
          </a:p>
        </p:txBody>
      </p:sp>
      <p:sp>
        <p:nvSpPr>
          <p:cNvPr id="16" name="level-4">
            <a:extLst xmlns:a="http://schemas.openxmlformats.org/drawingml/2006/main">
              <a:ext uri="{FF2B5EF4-FFF2-40B4-BE49-F238E27FC236}">
                <a16:creationId xmlns:a16="http://schemas.microsoft.com/office/drawing/2014/main" id="{3E5A6BC8-5E47-4090-8066-0EFF288B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809750"/>
            <a:ext cx="2047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F967EA-4D2B-4C13-912F-EE4977CF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D5EBAE-7B3F-430F-BA57-3B10BE1E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48000"/>
            <a:ext cx="1666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Judgment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F9C54A-75A3-47AD-8DFB-7DF6AAC7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4335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uncertainty · policy</a:t>
            </a:r>
          </a:p>
        </p:txBody>
      </p:sp>
      <p:sp>
        <p:nvSpPr>
          <p:cNvPr id="20" name="level-5">
            <a:extLst xmlns:a="http://schemas.openxmlformats.org/drawingml/2006/main">
              <a:ext uri="{FF2B5EF4-FFF2-40B4-BE49-F238E27FC236}">
                <a16:creationId xmlns:a16="http://schemas.microsoft.com/office/drawing/2014/main" id="{23EFCB4E-24CC-41FA-AED5-9E874986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809750"/>
            <a:ext cx="20478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ABB458-80DE-44A1-94EA-480370DD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09550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207B47-53BA-46A0-924E-BB93D291C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048000"/>
            <a:ext cx="16668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Company outcome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0BCDB-A121-458F-8F53-0C3F7FFC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943350"/>
            <a:ext cx="1666875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revenue · trust · harm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B8F206-31A1-4295-A6C2-30BC9882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93C07-DD8C-46D1-84A7-0A0CC283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23950"/>
            <a:ext cx="981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검사한 최고 공개 artifact는 L3 surface와 L4 일부까지. L5 real outcome은 없음.</a:t>
            </a:r>
          </a:p>
        </p:txBody>
      </p:sp>
    </p:spTree>
    <p:extLst>
      <p:ext uri="{BB962C8B-B14F-4D97-AF65-F5344CB8AC3E}">
        <p14:creationId xmlns:p14="http://schemas.microsoft.com/office/powerpoint/2010/main" val="2944473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itle-3">
            <a:extLst xmlns:a="http://schemas.openxmlformats.org/drawingml/2006/main">
              <a:ext uri="{FF2B5EF4-FFF2-40B4-BE49-F238E27FC236}">
                <a16:creationId xmlns:a16="http://schemas.microsoft.com/office/drawing/2014/main" id="{0545CA49-8D6B-43BA-834B-B5963523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문헌이 아니라 파일을 열어 확인했다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E6734-43E6-4F53-B043-A38BA1AA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87BBA-D6CF-47AE-B84F-23283098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Pinned upstream repositories and datasets; local receipts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14292-318E-4444-981C-9972247A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43000"/>
            <a:ext cx="1524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67857-40A7-4F68-89AC-C4F7DE56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23950"/>
            <a:ext cx="9810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세 artifact에서 실제 row/episode 3개씩을 보존 schema로 변환했다.</a:t>
            </a:r>
          </a:p>
        </p:txBody>
      </p:sp>
      <p:sp>
        <p:nvSpPr>
          <p:cNvPr id="6" name="receipt-0">
            <a:extLst xmlns:a="http://schemas.openxmlformats.org/drawingml/2006/main">
              <a:ext uri="{FF2B5EF4-FFF2-40B4-BE49-F238E27FC236}">
                <a16:creationId xmlns:a16="http://schemas.microsoft.com/office/drawing/2014/main" id="{1C9D1FA6-272F-4334-A37E-40E71AA6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5750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C5378-1903-4E9A-8E97-542B42B3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57550"/>
            <a:ext cx="30003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7F9E10-461A-4C66-9A6C-0902563AB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19625"/>
            <a:ext cx="300037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TheAgentCompany
task directories</a:t>
            </a:r>
          </a:p>
        </p:txBody>
      </p:sp>
      <p:sp>
        <p:nvSpPr>
          <p:cNvPr id="9" name="receipt-1">
            <a:extLst xmlns:a="http://schemas.openxmlformats.org/drawingml/2006/main">
              <a:ext uri="{FF2B5EF4-FFF2-40B4-BE49-F238E27FC236}">
                <a16:creationId xmlns:a16="http://schemas.microsoft.com/office/drawing/2014/main" id="{078F80DC-FA83-458D-BC67-27BB9601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CB131-F45C-4700-8A30-1EFB596C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57550"/>
            <a:ext cx="30003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4,280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6DC78-C3FB-41A7-922C-625DAC7B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619625"/>
            <a:ext cx="300037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CRMArenaPro
unique queries</a:t>
            </a:r>
          </a:p>
        </p:txBody>
      </p:sp>
      <p:sp>
        <p:nvSpPr>
          <p:cNvPr id="12" name="receipt-2">
            <a:extLst xmlns:a="http://schemas.openxmlformats.org/drawingml/2006/main">
              <a:ext uri="{FF2B5EF4-FFF2-40B4-BE49-F238E27FC236}">
                <a16:creationId xmlns:a16="http://schemas.microsoft.com/office/drawing/2014/main" id="{6CDFD4BF-3F05-4148-804B-011F3AFD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85750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D33F8-C3F4-4992-BE42-6616BDB2C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57550"/>
            <a:ext cx="300037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9 / 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95CEC4-8C82-45F4-AC93-2995C6C8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19625"/>
            <a:ext cx="3000375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decoded episodes
schema-valid</a:t>
            </a:r>
          </a:p>
        </p:txBody>
      </p:sp>
    </p:spTree>
    <p:extLst>
      <p:ext uri="{BB962C8B-B14F-4D97-AF65-F5344CB8AC3E}">
        <p14:creationId xmlns:p14="http://schemas.microsoft.com/office/powerpoint/2010/main" val="13757668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4">
            <a:extLst xmlns:a="http://schemas.openxmlformats.org/drawingml/2006/main">
              <a:ext uri="{FF2B5EF4-FFF2-40B4-BE49-F238E27FC236}">
                <a16:creationId xmlns:a16="http://schemas.microsoft.com/office/drawing/2014/main" id="{A9BC7CC5-4230-4825-BA6E-761FBDFB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세 후보는 서로 다른 것을 측정한다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6F94CE-32A6-48ED-8220-240ADB99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75D9B8-D399-4774-89A0-02473ACE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Official repos, dataset cards, papers and dated leaderboards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79860-C4FC-4CEB-83DE-7FA0823E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95375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54AB10-5A4C-43D9-A5F8-A9536549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076325"/>
            <a:ext cx="933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점수는 setting이 달라 직접 서열화하지 않는다.</a:t>
            </a:r>
          </a:p>
        </p:txBody>
      </p:sp>
      <p:graphicFrame>
        <p:nvGraphicFramePr>
          <p:cNvPr id="12" name="benchmark-table"/>
          <p:cNvGraphicFramePr/>
          <p:nvPr/>
        </p:nvGraphicFramePr>
        <p:xfrm>
          <a:off xmlns:a="http://schemas.openxmlformats.org/drawingml/2006/main" x="390525" y="1762125"/>
          <a:ext xmlns:a="http://schemas.openxmlformats.org/drawingml/2006/main" cx="11382375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71625"/>
                <a:gridCol w="1762125"/>
                <a:gridCol w="2286000"/>
                <a:gridCol w="1381125"/>
                <a:gridCol w="1524000"/>
                <a:gridCol w="2857500"/>
              </a:tblGrid>
              <a:tr h="976313">
                <a:tc>
                  <a:txBody>
                    <a:bodyPr/>
                    <a:lstStyle/>
                    <a:p>
                      <a:r>
                        <a:t>Artifact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Actual schema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State /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License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it cannot prove</a:t>
                      </a:r>
                    </a:p>
                  </a:txBody>
                  <a:tcPr marL="91440" marR="91440" marT="45720" marB="45720"/>
                </a:tc>
              </a:tr>
              <a:tr h="976313">
                <a:tc>
                  <a:txBody>
                    <a:bodyPr/>
                    <a:lstStyle/>
                    <a:p>
                      <a:r>
                        <a:t>CRMArena</a:t>
                      </a:r>
                    </a:p>
                    <a:p>
                      <a:r>
                        <a:t>Pro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JSON task row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Salesforce query / respond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logical only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CC BY-NC 4.0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mutable workflow; delayed outcome</a:t>
                      </a:r>
                    </a:p>
                  </a:txBody>
                  <a:tcPr marL="91440" marR="91440" marT="45720" marB="45720"/>
                </a:tc>
              </a:tr>
              <a:tr h="976313">
                <a:tc>
                  <a:txBody>
                    <a:bodyPr/>
                    <a:lstStyle/>
                    <a:p>
                      <a:r>
                        <a:t>TAC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task dir + evaluator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 apps + shell/browser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task image init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MIT code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real firm history; economic outcome</a:t>
                      </a:r>
                    </a:p>
                  </a:txBody>
                  <a:tcPr marL="91440" marR="91440" marT="45720" marB="45720"/>
                </a:tc>
              </a:tr>
              <a:tr h="976313">
                <a:tc>
                  <a:txBody>
                    <a:bodyPr/>
                    <a:lstStyle/>
                    <a:p>
                      <a:r>
                        <a:t>Gaia2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Parquet → JSON scenario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apps + scheduled events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scenario re-import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CC BY 4.0 / MIT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prospective company outcome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47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5">
            <a:extLst xmlns:a="http://schemas.openxmlformats.org/drawingml/2006/main">
              <a:ext uri="{FF2B5EF4-FFF2-40B4-BE49-F238E27FC236}">
                <a16:creationId xmlns:a16="http://schemas.microsoft.com/office/drawing/2014/main" id="{26735440-B1DE-4917-983A-7104180C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‘episode’는 prompt 한 줄이 아니라 계약이다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EF49D-5F74-4053-B5F5-F589DAD2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81A4C-9E9A-4147-8892-F138A1EF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normalized-episode-v2.schema.json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F39EE6-1A38-45E1-B44D-35249F8A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F05F2-65AC-4B3F-8A2B-9BD042562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085850"/>
            <a:ext cx="933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원본 payload는 보존하고, 비교 가능한 최소 필드만 정규화한다.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47168-A4BD-455C-8AC0-A44B743E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57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4DE497FC-2996-475A-B2F1-B4A92BBD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CC650B-4B7A-4534-A322-248D101D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95450"/>
            <a:ext cx="17621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56994-5821-40DD-8420-682A6B72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723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objective · policy · provenance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BED10A-9D8C-434C-8359-6B089205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552700"/>
            <a:ext cx="57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A9AB879C-FAA7-45A3-96B3-9AEE9940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5AEC0-63BA-4364-BFD4-E6DB641B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33650"/>
            <a:ext cx="17621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03B5F-BDB0-455C-8DCB-BC64B9EE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52700"/>
            <a:ext cx="723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initial observation · hidden state refs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D746A-6613-4CD4-BCE4-FB4E50DC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90900"/>
            <a:ext cx="57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9C390F80-1DD4-4E4E-BA99-0024733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33873D-A6EC-4F6A-A010-EA7A83AB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71850"/>
            <a:ext cx="17621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A64336-9B7A-40AF-BD14-9FD46691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390900"/>
            <a:ext cx="723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typed space · authority boundary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D52A6-B881-404A-A041-2B9E9818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29100"/>
            <a:ext cx="57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F36C2A1F-798F-4913-A9AF-0F3CC83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528A0-8904-4165-A678-E222C953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210050"/>
            <a:ext cx="17621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5474E5-5C65-4037-B2FB-A8B8328D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229100"/>
            <a:ext cx="723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grader · terminal condition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7C5B15-E85F-49F3-9D78-FA87967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067300"/>
            <a:ext cx="57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3" name="rule">
            <a:extLst xmlns:a="http://schemas.openxmlformats.org/drawingml/2006/main">
              <a:ext uri="{FF2B5EF4-FFF2-40B4-BE49-F238E27FC236}">
                <a16:creationId xmlns:a16="http://schemas.microsoft.com/office/drawing/2014/main" id="{A5784374-C55E-49E3-AD62-82B17C1C8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99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28192-F815-4231-B0AB-EB742AAA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8250"/>
            <a:ext cx="1762125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Replay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2FFDE0-22B1-4FD5-8CC7-A990A6E9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67300"/>
            <a:ext cx="72390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reset semantics · source revision</a:t>
            </a:r>
          </a:p>
        </p:txBody>
      </p:sp>
    </p:spTree>
    <p:extLst>
      <p:ext uri="{BB962C8B-B14F-4D97-AF65-F5344CB8AC3E}">
        <p14:creationId xmlns:p14="http://schemas.microsoft.com/office/powerpoint/2010/main" val="20056441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6">
            <a:extLst xmlns:a="http://schemas.openxmlformats.org/drawingml/2006/main">
              <a:ext uri="{FF2B5EF4-FFF2-40B4-BE49-F238E27FC236}">
                <a16:creationId xmlns:a16="http://schemas.microsoft.com/office/drawing/2014/main" id="{AE9D6627-21BC-4BB9-82E9-A990B724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Qwen SFT는 형식을 고쳤지만 판단은 못 고쳤다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B8179-4AE3-4F80-B503-14B3051B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FBAAFC-5E86-432B-A365-0F6C41366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Local MLX receipt; frozen test n=10; no paid compute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9BB8B-748B-4F7F-9153-49D6421B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D9E95-EE46-4C7F-B189-C6FFB54C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085850"/>
            <a:ext cx="933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12-step LoRA · 5.40 s · 1.281 GiB peak · $0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44B3D2-A774-44DE-9522-E7E9E5E7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8097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9D3911-1B88-4A7C-B5E4-28B296A0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3812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Post-SFT</a:t>
            </a:r>
          </a:p>
        </p:txBody>
      </p:sp>
      <p:sp>
        <p:nvSpPr>
          <p:cNvPr id="8" name="base-parse">
            <a:extLst xmlns:a="http://schemas.openxmlformats.org/drawingml/2006/main">
              <a:ext uri="{FF2B5EF4-FFF2-40B4-BE49-F238E27FC236}">
                <a16:creationId xmlns:a16="http://schemas.microsoft.com/office/drawing/2014/main" id="{8DA323C7-A113-43A2-8E6A-A273132B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09750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9" name="post-parse">
            <a:extLst xmlns:a="http://schemas.openxmlformats.org/drawingml/2006/main">
              <a:ext uri="{FF2B5EF4-FFF2-40B4-BE49-F238E27FC236}">
                <a16:creationId xmlns:a16="http://schemas.microsoft.com/office/drawing/2014/main" id="{E5C7D988-B24B-4FCE-90BF-7219F58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381250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D25A2-330A-4D76-9B92-DE623D8A2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09875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Parse validity  0% → 100%</a:t>
            </a:r>
          </a:p>
        </p:txBody>
      </p:sp>
      <p:sp>
        <p:nvSpPr>
          <p:cNvPr id="11" name="base-safe">
            <a:extLst xmlns:a="http://schemas.openxmlformats.org/drawingml/2006/main">
              <a:ext uri="{FF2B5EF4-FFF2-40B4-BE49-F238E27FC236}">
                <a16:creationId xmlns:a16="http://schemas.microsoft.com/office/drawing/2014/main" id="{C5D41B0C-A494-4598-8FCE-5507ABCD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95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2" name="post-safe">
            <a:extLst xmlns:a="http://schemas.openxmlformats.org/drawingml/2006/main">
              <a:ext uri="{FF2B5EF4-FFF2-40B4-BE49-F238E27FC236}">
                <a16:creationId xmlns:a16="http://schemas.microsoft.com/office/drawing/2014/main" id="{8C9C0465-6AE4-4767-BB7F-8A7AA389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4812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1200C3-AAE0-4BBD-8E07-91205E1B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hard failure  0% → 100%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43EFCE8F-301F-473E-A993-DFF7AAC0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91125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4DB745-D905-4901-A93D-31EDF880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Exact decision  0% → 0%</a:t>
            </a:r>
          </a:p>
        </p:txBody>
      </p:sp>
      <p:sp>
        <p:nvSpPr>
          <p:cNvPr id="16" name="interpretation">
            <a:extLst xmlns:a="http://schemas.openxmlformats.org/drawingml/2006/main">
              <a:ext uri="{FF2B5EF4-FFF2-40B4-BE49-F238E27FC236}">
                <a16:creationId xmlns:a16="http://schemas.microsoft.com/office/drawing/2014/main" id="{6B985C8E-1FE9-4776-8217-400EE122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52625"/>
            <a:ext cx="4333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27A79-64E6-4F64-BD73-0DF5780CA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3762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0% → 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C1D61-A1DD-4A45-BF77-1310D817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86050"/>
            <a:ext cx="3762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parse validity</a:t>
            </a:r>
          </a:p>
        </p:txBody>
      </p:sp>
      <p:sp>
        <p:nvSpPr>
          <p:cNvPr id="19" name="negative-result">
            <a:extLst xmlns:a="http://schemas.openxmlformats.org/drawingml/2006/main">
              <a:ext uri="{FF2B5EF4-FFF2-40B4-BE49-F238E27FC236}">
                <a16:creationId xmlns:a16="http://schemas.microsoft.com/office/drawing/2014/main" id="{4E6801EB-9C8E-4803-B965-684A3EA1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81375"/>
            <a:ext cx="433387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22FC2B-ADFB-483A-B0BC-40ABA245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376237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0% → 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79F2E3-8BD1-43D3-81B0-E89B8774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71950"/>
            <a:ext cx="3762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held-out exact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B55527-9697-43A3-8291-C9EBC124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572000"/>
            <a:ext cx="37623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해석: format recovery only</a:t>
            </a:r>
          </a:p>
        </p:txBody>
      </p:sp>
    </p:spTree>
    <p:extLst>
      <p:ext uri="{BB962C8B-B14F-4D97-AF65-F5344CB8AC3E}">
        <p14:creationId xmlns:p14="http://schemas.microsoft.com/office/powerpoint/2010/main" val="3400526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7">
            <a:extLst xmlns:a="http://schemas.openxmlformats.org/drawingml/2006/main">
              <a:ext uri="{FF2B5EF4-FFF2-40B4-BE49-F238E27FC236}">
                <a16:creationId xmlns:a16="http://schemas.microsoft.com/office/drawing/2014/main" id="{35174608-F274-4EA0-9A49-AC4E18DC5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점수를 올리는 데이터는 여섯 가지 역할로 분리된다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5EA068-CA41-4A97-BC49-F862F3C2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8FAB44-5004-4BE8-B104-86636E88F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Environment Foundry V2 training-data taxonomy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2A9B6-B7DA-4395-A8B4-664A8776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145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SFT trace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587130-D36F-4609-8A29-3443C028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66950"/>
            <a:ext cx="3333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 → demonstrated 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335F7-317B-4B52-AB7E-CCD3AB60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7813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limit → coverage ceiling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DC4D86-3095-4C89-B4AB-11476649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145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4169F-3EF2-4A03-AA40-A895C23B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66950"/>
            <a:ext cx="3333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 → ranked rollouts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0BE79-2E52-4659-86F6-8168D430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813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limit → causal ambiguity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344A5-DF4D-4A36-9511-F3CDC828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71450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EC228B-6627-42AA-AAE0-51DF8499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266950"/>
            <a:ext cx="3333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 → score / reward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04FDB-8E6B-42F5-935B-623CFCFC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78130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limit → proxy hacking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E6D81-9CA2-4878-BFE0-369D89F3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A76CA8-3B38-4A5E-9908-1D63607B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267200"/>
            <a:ext cx="3333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 → delayed consequence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DFACF8-CB20-4F97-BA21-9A89B427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815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limit → confounding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CF5BE-4E86-4161-A223-C54FC7A6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1475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Rollout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81F949-25CC-4F0E-ACB9-A13A1971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67200"/>
            <a:ext cx="3333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 → state transitions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9A0993-36F0-4116-AA30-32F5529E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7815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limit → cost / mismatch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D52D5-B58F-49E8-9D15-2E001631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3714750"/>
            <a:ext cx="3333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RLVR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B3101-AECA-4542-8AF6-34CD354F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267200"/>
            <a:ext cx="3333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 → verified reward 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67D29F-766C-49FD-9346-68C55B31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81550"/>
            <a:ext cx="3333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limit → variance / exploit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699EAE-A32A-4908-AC44-E215A3D0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667375"/>
            <a:ext cx="1428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NOT YET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04828A-27E1-434F-9E23-3D1C33D3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48325"/>
            <a:ext cx="952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RLVR는 grader 신뢰성과 reward variance가 생긴 뒤에만.</a:t>
            </a:r>
          </a:p>
        </p:txBody>
      </p:sp>
    </p:spTree>
    <p:extLst>
      <p:ext uri="{BB962C8B-B14F-4D97-AF65-F5344CB8AC3E}">
        <p14:creationId xmlns:p14="http://schemas.microsoft.com/office/powerpoint/2010/main" val="396721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8">
            <a:extLst xmlns:a="http://schemas.openxmlformats.org/drawingml/2006/main">
              <a:ext uri="{FF2B5EF4-FFF2-40B4-BE49-F238E27FC236}">
                <a16:creationId xmlns:a16="http://schemas.microsoft.com/office/drawing/2014/main" id="{1B4C0F6C-3ECF-4135-9683-50EC559C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사업은 ‘benchmark 공급자’와 ‘새 category’로 갈린다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599B77-9EE0-4B9A-A70E-7FAAF7AC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26BC7-5C8E-43CA-BFB4-FFF56C65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V2 business-path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21E2E4-0F9C-4D8B-A46D-16CF9B37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HYPOTHESIS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DC6E2-F7FC-42F0-A584-43C6D50E9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04900"/>
            <a:ext cx="933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두 경로를 동시에 넓히지 말고, 30일 증거로 선택한다.</a:t>
            </a:r>
          </a:p>
        </p:txBody>
      </p:sp>
      <p:sp>
        <p:nvSpPr>
          <p:cNvPr id="6" name="path-0">
            <a:extLst xmlns:a="http://schemas.openxmlformats.org/drawingml/2006/main">
              <a:ext uri="{FF2B5EF4-FFF2-40B4-BE49-F238E27FC236}">
                <a16:creationId xmlns:a16="http://schemas.microsoft.com/office/drawing/2014/main" id="{8FB96456-F875-4511-BCB0-979C56B5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38375"/>
            <a:ext cx="5524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76102-B412-4E1F-8921-80CDAFD4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24125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A. 기존 점수 개선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21777-8EC2-41B1-A506-6BC2132C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190875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adapter · rollout · verifier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7D35A2-389B-48EE-B552-CFDD995B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33875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빠른 demo / 약한 moat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28FC7-6783-4E04-8BED-91428609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00625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Kill: 고객이 public score만 원하고 지불하지 않음</a:t>
            </a:r>
          </a:p>
        </p:txBody>
      </p:sp>
      <p:sp>
        <p:nvSpPr>
          <p:cNvPr id="11" name="path-1">
            <a:extLst xmlns:a="http://schemas.openxmlformats.org/drawingml/2006/main">
              <a:ext uri="{FF2B5EF4-FFF2-40B4-BE49-F238E27FC236}">
                <a16:creationId xmlns:a16="http://schemas.microsoft.com/office/drawing/2014/main" id="{35BFB766-DA66-4696-A491-C4B11511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38375"/>
            <a:ext cx="5524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D14CBD-9DA1-40F9-AA23-4CD9DA82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24125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B. company-operation category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09329D-ADB0-4114-A44B-DF16A891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90875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rights · replay ·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DA0D80-905A-4685-BDD2-7DAF4EF0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333875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강한 wedge / 높은 validity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58632-F0D3-4CAE-A829-F4C3C919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5000625"/>
            <a:ext cx="49530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Kill: retrieval baseline tie 또는 outcome closure 실패</a:t>
            </a:r>
          </a:p>
        </p:txBody>
      </p:sp>
    </p:spTree>
    <p:extLst>
      <p:ext uri="{BB962C8B-B14F-4D97-AF65-F5344CB8AC3E}">
        <p14:creationId xmlns:p14="http://schemas.microsoft.com/office/powerpoint/2010/main" val="8979073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9">
            <a:extLst xmlns:a="http://schemas.openxmlformats.org/drawingml/2006/main">
              <a:ext uri="{FF2B5EF4-FFF2-40B4-BE49-F238E27FC236}">
                <a16:creationId xmlns:a16="http://schemas.microsoft.com/office/drawing/2014/main" id="{296218B3-8D02-47E8-B6D3-728E96DE6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0858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30일 안에 thesis가 아니라 prospective ranking을 검증한다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0545B-4BDD-4732-8AB1-EF8BA0DE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8650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36380-5DCF-43C1-B092-4474505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324600"/>
            <a:ext cx="1000125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t>Recommended wedge and kill gates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A448504-7A80-4C5E-9163-04209C75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6250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dot-0">
            <a:extLst xmlns:a="http://schemas.openxmlformats.org/drawingml/2006/main">
              <a:ext uri="{FF2B5EF4-FFF2-40B4-BE49-F238E27FC236}">
                <a16:creationId xmlns:a16="http://schemas.microsoft.com/office/drawing/2014/main" id="{0CE48FD1-ECDA-4025-B3D3-A1356AEC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85056-4CB4-4B76-9FF3-46A79470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D1–5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A9CD9-DC06-4DE3-8A63-1AB4C099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228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Freeze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69E07-9353-4ACA-8279-7A2DE02B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task · rights · cutoff</a:t>
            </a:r>
          </a:p>
        </p:txBody>
      </p:sp>
      <p:sp>
        <p:nvSpPr>
          <p:cNvPr id="9" name="dot-1">
            <a:extLst xmlns:a="http://schemas.openxmlformats.org/drawingml/2006/main">
              <a:ext uri="{FF2B5EF4-FFF2-40B4-BE49-F238E27FC236}">
                <a16:creationId xmlns:a16="http://schemas.microsoft.com/office/drawing/2014/main" id="{B202585F-ADDC-4ED7-AACA-D2F45B53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F0F73A-0B32-4925-AFB2-FCD44E7C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435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D6–15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8A2F4F-ECC0-46EC-AC75-B5ABA412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828800"/>
            <a:ext cx="228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Capture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00E3DC-84F0-43D3-BF92-4214C0DC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≥20 shadow episodes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D87A1AFB-3D49-4892-AD3B-3758CAFB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9AA77-835E-455D-85EC-9072BFDD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D16–23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43340-2721-4674-9C8F-5EAB62923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28800"/>
            <a:ext cx="228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C86B7-961F-4467-BA72-AAB71356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7175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human / generic / RAG / env</a:t>
            </a:r>
          </a:p>
        </p:txBody>
      </p:sp>
      <p:sp>
        <p:nvSpPr>
          <p:cNvPr id="17" name="dot-3">
            <a:extLst xmlns:a="http://schemas.openxmlformats.org/drawingml/2006/main">
              <a:ext uri="{FF2B5EF4-FFF2-40B4-BE49-F238E27FC236}">
                <a16:creationId xmlns:a16="http://schemas.microsoft.com/office/drawing/2014/main" id="{B910AA5C-C722-4EE6-B03F-E056C611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676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5B25AD-8F42-4EC0-9D93-E6AFFF88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435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D24–30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1869F1-891B-4529-96A9-F17978B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28800"/>
            <a:ext cx="2286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Close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FED9B-7A30-4062-B7A0-CB975903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2286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delayed outcome · transfer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DB628D-45A5-459E-AB44-FDFF1218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239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KILL GATE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5680C-FCC0-4270-B989-9EEFC41A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104900"/>
            <a:ext cx="933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simple baseline tie · unstable ranking · no outcome · no held-out transfer</a:t>
            </a:r>
          </a:p>
        </p:txBody>
      </p:sp>
    </p:spTree>
    <p:extLst>
      <p:ext uri="{BB962C8B-B14F-4D97-AF65-F5344CB8AC3E}">
        <p14:creationId xmlns:p14="http://schemas.microsoft.com/office/powerpoint/2010/main" val="16932578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4426C-ADA1-406E-A82C-39B72017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D7164-31E4-4273-BC6E-EABBDE6C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76400"/>
            <a:ext cx="1047750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새 benchmark를 선언하지 말고,
한 decision environment를 반증하자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A776C-06A6-415D-A992-1F40BF2F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819650"/>
            <a:ext cx="10477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승인 요청: rights-valid shadow capture 설계 · paid compute는 별도 승인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8CC2CF-C197-4589-90B8-C4A5CF37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91225"/>
            <a:ext cx="9525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B35"/>
                </a:solidFill>
                <a:latin typeface="Helvetica Neue"/>
                <a:ea typeface="Helvetica Neue"/>
                <a:cs typeface="Helvetica Neue"/>
              </a:defRPr>
            </a:pPr>
            <a:r>
              <a:t>NOT YET: buyer demand · live validity · prospective lift · transfer</a:t>
            </a:r>
          </a:p>
        </p:txBody>
      </p:sp>
    </p:spTree>
    <p:extLst>
      <p:ext uri="{BB962C8B-B14F-4D97-AF65-F5344CB8AC3E}">
        <p14:creationId xmlns:p14="http://schemas.microsoft.com/office/powerpoint/2010/main" val="10319364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2026-07-23T09:12:46.6570000Z</dcterms:created>
  <dcterms:modified xsi:type="dcterms:W3CDTF">2026-07-23T09:12:46.6570000Z</dcterms:modified>
</coreProperties>
</file>